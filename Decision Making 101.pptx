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9" r:id="rId5"/>
    <p:sldId id="264" r:id="rId6"/>
    <p:sldId id="267" r:id="rId7"/>
    <p:sldId id="260" r:id="rId8"/>
    <p:sldId id="261" r:id="rId9"/>
    <p:sldId id="268" r:id="rId10"/>
    <p:sldId id="262" r:id="rId11"/>
    <p:sldId id="258" r:id="rId12"/>
    <p:sldId id="263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7D03-A37E-4921-B5E9-A3F0D3772F8F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82D1-2508-4C90-B626-837158AD91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284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7D03-A37E-4921-B5E9-A3F0D3772F8F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82D1-2508-4C90-B626-837158AD91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427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7D03-A37E-4921-B5E9-A3F0D3772F8F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82D1-2508-4C90-B626-837158AD91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190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7D03-A37E-4921-B5E9-A3F0D3772F8F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82D1-2508-4C90-B626-837158AD91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267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7D03-A37E-4921-B5E9-A3F0D3772F8F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82D1-2508-4C90-B626-837158AD91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882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7D03-A37E-4921-B5E9-A3F0D3772F8F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82D1-2508-4C90-B626-837158AD91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33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7D03-A37E-4921-B5E9-A3F0D3772F8F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82D1-2508-4C90-B626-837158AD91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411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7D03-A37E-4921-B5E9-A3F0D3772F8F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82D1-2508-4C90-B626-837158AD91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904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7D03-A37E-4921-B5E9-A3F0D3772F8F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82D1-2508-4C90-B626-837158AD91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89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7D03-A37E-4921-B5E9-A3F0D3772F8F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82D1-2508-4C90-B626-837158AD91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05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7D03-A37E-4921-B5E9-A3F0D3772F8F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82D1-2508-4C90-B626-837158AD91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269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07D03-A37E-4921-B5E9-A3F0D3772F8F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6882D1-2508-4C90-B626-837158AD91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7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solidFill>
                  <a:schemeClr val="accent5">
                    <a:lumMod val="75000"/>
                  </a:schemeClr>
                </a:solidFill>
                <a:latin typeface="Agency FB" pitchFamily="34" charset="0"/>
              </a:rPr>
              <a:t>Decision Making 101</a:t>
            </a:r>
            <a:endParaRPr lang="en-US" sz="4800" b="1" dirty="0">
              <a:solidFill>
                <a:schemeClr val="accent5">
                  <a:lumMod val="75000"/>
                </a:schemeClr>
              </a:solidFill>
              <a:latin typeface="Agency FB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5400" b="1" dirty="0" smtClean="0">
                <a:latin typeface="Agency FB" pitchFamily="34" charset="0"/>
                <a:cs typeface="Courier New" pitchFamily="49" charset="0"/>
              </a:rPr>
              <a:t>Monir Hossain</a:t>
            </a:r>
            <a:endParaRPr lang="en-US" sz="5400" b="1" dirty="0">
              <a:latin typeface="Agency FB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513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Courier New" pitchFamily="49" charset="0"/>
                <a:cs typeface="Courier New" pitchFamily="49" charset="0"/>
              </a:rPr>
              <a:t>S</a:t>
            </a:r>
            <a:r>
              <a:rPr lang="en-US" sz="3200" b="1" dirty="0" smtClean="0">
                <a:latin typeface="Courier New" pitchFamily="49" charset="0"/>
                <a:cs typeface="Courier New" pitchFamily="49" charset="0"/>
              </a:rPr>
              <a:t>teps for Decision-Making</a:t>
            </a:r>
            <a:r>
              <a:rPr lang="en-US" sz="3200" dirty="0" smtClean="0">
                <a:latin typeface="Courier New" pitchFamily="49" charset="0"/>
                <a:cs typeface="Courier New" pitchFamily="49" charset="0"/>
              </a:rPr>
              <a:t> 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efine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the problem clearly</a:t>
            </a:r>
          </a:p>
          <a:p>
            <a:pPr algn="just"/>
            <a:r>
              <a:rPr lang="en-US" sz="2800" dirty="0">
                <a:latin typeface="Courier New" pitchFamily="49" charset="0"/>
                <a:cs typeface="Courier New" pitchFamily="49" charset="0"/>
              </a:rPr>
              <a:t>Gather 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information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and facts</a:t>
            </a:r>
          </a:p>
          <a:p>
            <a:pPr algn="just"/>
            <a:r>
              <a:rPr lang="en-US" sz="2800" dirty="0">
                <a:latin typeface="Courier New" pitchFamily="49" charset="0"/>
                <a:cs typeface="Courier New" pitchFamily="49" charset="0"/>
              </a:rPr>
              <a:t>Identify possible 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alternatives</a:t>
            </a:r>
          </a:p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Weigh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the evidence (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pros and cons)</a:t>
            </a:r>
            <a:endParaRPr lang="en-US" sz="2800" dirty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sz="2800" dirty="0">
                <a:latin typeface="Courier New" pitchFamily="49" charset="0"/>
                <a:cs typeface="Courier New" pitchFamily="49" charset="0"/>
              </a:rPr>
              <a:t>Choose among 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alternatives</a:t>
            </a:r>
            <a:endParaRPr lang="en-US" sz="2800" dirty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sz="2800" dirty="0">
                <a:latin typeface="Courier New" pitchFamily="49" charset="0"/>
                <a:cs typeface="Courier New" pitchFamily="49" charset="0"/>
              </a:rPr>
              <a:t>Take 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action</a:t>
            </a:r>
          </a:p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Review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and learn from the outcome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040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gency FB" pitchFamily="34" charset="0"/>
              </a:rPr>
              <a:t>Multi-Criteria Decision Analysis </a:t>
            </a:r>
            <a:r>
              <a:rPr lang="en-US" b="1" dirty="0">
                <a:latin typeface="Agency FB" pitchFamily="34" charset="0"/>
              </a:rPr>
              <a:t/>
            </a:r>
            <a:br>
              <a:rPr lang="en-US" b="1" dirty="0">
                <a:latin typeface="Agency FB" pitchFamily="34" charset="0"/>
              </a:rPr>
            </a:br>
            <a:r>
              <a:rPr lang="en-US" sz="3600" b="1" dirty="0">
                <a:latin typeface="Agency FB" pitchFamily="34" charset="0"/>
              </a:rPr>
              <a:t>(When to choose </a:t>
            </a:r>
            <a:r>
              <a:rPr lang="en-US" sz="3600" b="1" dirty="0" smtClean="0">
                <a:latin typeface="Agency FB" pitchFamily="34" charset="0"/>
              </a:rPr>
              <a:t>Multi condition Based Choice</a:t>
            </a:r>
            <a:r>
              <a:rPr lang="en-US" sz="3600" b="1" dirty="0">
                <a:latin typeface="Agency FB" pitchFamily="34" charset="0"/>
              </a:rPr>
              <a:t>)</a:t>
            </a:r>
            <a:r>
              <a:rPr lang="en-US" b="1" dirty="0" smtClean="0">
                <a:latin typeface="Agency FB" pitchFamily="34" charset="0"/>
              </a:rPr>
              <a:t/>
            </a:r>
            <a:br>
              <a:rPr lang="en-US" b="1" dirty="0" smtClean="0">
                <a:latin typeface="Agency FB" pitchFamily="34" charset="0"/>
              </a:rPr>
            </a:br>
            <a:endParaRPr lang="en-US" b="1" dirty="0">
              <a:latin typeface="Agency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 marL="0" lvl="0" indent="0" algn="just">
              <a:buNone/>
            </a:pPr>
            <a:endParaRPr lang="en-US" sz="24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0" lvl="0" indent="0" algn="just"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Choosing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the </a:t>
            </a: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Best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smartphone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for daily use which phone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offer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best balances camera quality, battery life, price under ৳50,000, and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warranty?</a:t>
            </a:r>
          </a:p>
          <a:p>
            <a:pPr marL="0" lvl="0" indent="0" algn="just">
              <a:buNone/>
            </a:pP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 marL="0" indent="0" algn="ctr"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(Use This When You Have Information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)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249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gency FB" pitchFamily="34" charset="0"/>
              </a:rPr>
              <a:t>Multi-Objective </a:t>
            </a:r>
            <a:r>
              <a:rPr lang="en-US" b="1" dirty="0">
                <a:latin typeface="Agency FB" pitchFamily="34" charset="0"/>
              </a:rPr>
              <a:t>Optimization</a:t>
            </a:r>
            <a:br>
              <a:rPr lang="en-US" b="1" dirty="0">
                <a:latin typeface="Agency FB" pitchFamily="34" charset="0"/>
              </a:rPr>
            </a:br>
            <a:r>
              <a:rPr lang="en-US" sz="3600" b="1" dirty="0">
                <a:latin typeface="Agency FB" pitchFamily="34" charset="0"/>
              </a:rPr>
              <a:t>(When to choose Optimal Choice) </a:t>
            </a:r>
            <a:endParaRPr lang="en-US" b="1" dirty="0">
              <a:latin typeface="Agency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endParaRPr lang="en-US" sz="2400" b="1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0" lvl="0" indent="0" algn="just">
              <a:buNone/>
            </a:pPr>
            <a:endParaRPr lang="en-US" sz="24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0" lvl="0" indent="0" algn="just"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Choosing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the right water purifier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for household Which models maximize purification quality + daily output while minimizing maintenance cost and electricity use?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(Use This When You Have Information)</a:t>
            </a:r>
            <a:endParaRPr lang="en-US" sz="28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648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229600" cy="1143000"/>
          </a:xfrm>
        </p:spPr>
        <p:txBody>
          <a:bodyPr/>
          <a:lstStyle/>
          <a:p>
            <a:r>
              <a:rPr lang="en-US" b="1" dirty="0">
                <a:latin typeface="Agency FB" pitchFamily="34" charset="0"/>
              </a:rPr>
              <a:t>Forecasting &amp; Time-Series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 marL="0" lvl="0" indent="0" algn="just"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Predicting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next month’s electricity bill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Based on past usage, temperature trends, and tariff changes, how much will my family’s electricity bill be in March 2026 if we keep the same AC pattern?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sz="2800" b="1" dirty="0">
                <a:latin typeface="Courier New" pitchFamily="49" charset="0"/>
                <a:cs typeface="Courier New" pitchFamily="49" charset="0"/>
              </a:rPr>
              <a:t>(Use This When You Have </a:t>
            </a: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Information and you want to predict)</a:t>
            </a:r>
            <a:endParaRPr lang="en-US" sz="28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00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gency FB" pitchFamily="34" charset="0"/>
              </a:rPr>
              <a:t>Robust &amp; Stochastic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Ordering umbrellas before monsoon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How many umbrellas should my small shop in New Market order if demand can realistically range anywhere between 80–350 pieces and I want to minimize the maximum possible regret?</a:t>
            </a:r>
          </a:p>
          <a:p>
            <a:pPr marL="0" indent="0">
              <a:buNone/>
            </a:pPr>
            <a:endParaRPr lang="en-US" dirty="0" smtClean="0"/>
          </a:p>
          <a:p>
            <a:pPr marL="0" lvl="0" indent="0" algn="just">
              <a:buNone/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Stocking winter clothes 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for a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Savar 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shop With demand for sweaters/jackets uncertain (cold wave vs mild winter), how many pieces should I order to minimize the worst-case financial loss (overstock + lost sales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)?</a:t>
            </a:r>
          </a:p>
          <a:p>
            <a:pPr marL="0" lvl="0" indent="0" algn="just">
              <a:buNone/>
            </a:pP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marL="0" indent="0" algn="ctr"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(When Haven't much Info but want to decide)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542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gency FB" pitchFamily="34" charset="0"/>
              </a:rPr>
              <a:t>Decision Making Under Deep Uncertainty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algn="just">
              <a:buNone/>
            </a:pP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Choosing school location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for children With uncertain traffic congestion, school quality changes, and family income fluctuations, which area/school minimizes education disruption risk across many mobility futures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?</a:t>
            </a:r>
          </a:p>
          <a:p>
            <a:pPr marL="0" lvl="0" indent="0" algn="just">
              <a:buNone/>
            </a:pP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Choosing vocational training course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With uncertain demand for garment vs IT vs beauty vs plumbing skills in 5–10 years, which course provides the most robust employment prospects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?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(When Haven't Info 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and </a:t>
            </a: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want </a:t>
            </a:r>
            <a:r>
              <a:rPr lang="en-US" sz="2800" b="1" dirty="0">
                <a:latin typeface="Courier New" pitchFamily="49" charset="0"/>
                <a:cs typeface="Courier New" pitchFamily="49" charset="0"/>
              </a:rPr>
              <a:t>to </a:t>
            </a:r>
            <a:r>
              <a:rPr lang="en-US" sz="2800" b="1" dirty="0" smtClean="0">
                <a:latin typeface="Courier New" pitchFamily="49" charset="0"/>
                <a:cs typeface="Courier New" pitchFamily="49" charset="0"/>
              </a:rPr>
              <a:t>decide)</a:t>
            </a:r>
            <a:endParaRPr lang="en-US" sz="28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176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gency FB" pitchFamily="34" charset="0"/>
              </a:rPr>
              <a:t>Causal Inference &amp; Program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Did the secondary school stipend for girls in rural Bangladesh actually reduce child marriage rates, or were declines due to rising parental awareness and income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?</a:t>
            </a:r>
            <a:endParaRPr lang="en-US" dirty="0"/>
          </a:p>
          <a:p>
            <a:pPr marL="0" lvl="0" indent="0" algn="just">
              <a:buNone/>
            </a:pP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Did graphic warning labels and media campaigns causally reduce smoking prevalence among adolescent boys in urban areas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?</a:t>
            </a:r>
          </a:p>
          <a:p>
            <a:pPr marL="0" indent="0" algn="just">
              <a:buNone/>
            </a:pP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 marL="0" indent="0" algn="ctr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(Use This When You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want to know the Real Cause)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marL="0" indent="0" algn="just">
              <a:buNone/>
            </a:pP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 marL="0" lvl="0" indent="0" algn="just">
              <a:buNone/>
            </a:pP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059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gency FB" pitchFamily="34" charset="0"/>
              </a:rPr>
              <a:t>Systems Thinking &amp; System Dynamics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Why do many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government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programs show strong early results but fade after 2–3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years?</a:t>
            </a:r>
          </a:p>
          <a:p>
            <a:pPr marL="0" indent="0" algn="just">
              <a:buNone/>
            </a:pPr>
            <a:endParaRPr lang="en-US" sz="1100" dirty="0">
              <a:latin typeface="Courier New" pitchFamily="49" charset="0"/>
              <a:cs typeface="Courier New" pitchFamily="49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Why do most cases go unreported despite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helplines?</a:t>
            </a:r>
          </a:p>
          <a:p>
            <a:pPr marL="0" indent="0" algn="just">
              <a:buNone/>
            </a:pPr>
            <a:endParaRPr lang="en-US" sz="1200" dirty="0">
              <a:latin typeface="Courier New" pitchFamily="49" charset="0"/>
              <a:cs typeface="Courier New" pitchFamily="49" charset="0"/>
            </a:endParaRPr>
          </a:p>
          <a:p>
            <a:pPr marL="0" indent="0" algn="just"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Why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does women’s employment rate grow slowly despite education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gains?</a:t>
            </a:r>
          </a:p>
          <a:p>
            <a:pPr marL="0" indent="0" algn="just">
              <a:buNone/>
            </a:pP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 marL="0" indent="0" algn="ctr">
              <a:buNone/>
            </a:pPr>
            <a:r>
              <a:rPr lang="en-US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(When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You want to </a:t>
            </a:r>
            <a:r>
              <a:rPr lang="en-US" sz="1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know Why System don’t work as expected)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 algn="ctr"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485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gency FB" pitchFamily="34" charset="0"/>
              </a:rPr>
              <a:t>Simulation &amp; Agent-Based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None/>
            </a:pPr>
            <a:endParaRPr lang="en-US" sz="2400" dirty="0" smtClean="0">
              <a:latin typeface="Courier New" pitchFamily="49" charset="0"/>
              <a:cs typeface="Courier New" pitchFamily="49" charset="0"/>
            </a:endParaRPr>
          </a:p>
          <a:p>
            <a:pPr marL="0" lvl="0" indent="0" algn="just">
              <a:buNone/>
            </a:pP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Simulating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Dhaka traffic congestion If we add dedicated bus lanes on Mirpur Road, how will average commute time and private car usage change under different driver compliance levels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?</a:t>
            </a:r>
          </a:p>
          <a:p>
            <a:pPr marL="0" lvl="0" indent="0" algn="just">
              <a:buNone/>
            </a:pP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 marL="0" indent="0" algn="ctr"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(Use This When You want to know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the result if it would happen)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583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gency FB" pitchFamily="34" charset="0"/>
              </a:rPr>
              <a:t>Resource Allocation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algn="just">
              <a:buNone/>
            </a:pPr>
            <a:endParaRPr lang="en-US" sz="24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0" lvl="0" indent="0" algn="just"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Distributing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limited COVID vaccine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doses in a Dhaka ward With only 4,000 doses for 25,000 people, how to allocate between elderly, RMG workers, students, and pregnant women to minimize expected severe cases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?</a:t>
            </a:r>
          </a:p>
          <a:p>
            <a:pPr marL="0" lvl="0" indent="0" algn="just">
              <a:buNone/>
            </a:pPr>
            <a:endParaRPr lang="en-US" sz="2400" b="1" dirty="0" smtClean="0">
              <a:latin typeface="Courier New" pitchFamily="49" charset="0"/>
              <a:cs typeface="Courier New" pitchFamily="49" charset="0"/>
            </a:endParaRPr>
          </a:p>
          <a:p>
            <a:pPr marL="0" lvl="0" indent="0" algn="ctr"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(When You Want to use your limited asset for maximum outcome) 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961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gency FB" pitchFamily="34" charset="0"/>
              </a:rPr>
              <a:t>Network Science &amp; Graph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 algn="just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Analyzing street food vendor supplier networks Which wholesalers supply the most vendors and act as price influencers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?</a:t>
            </a:r>
          </a:p>
          <a:p>
            <a:pPr marL="0" lvl="0" indent="0" algn="just">
              <a:buNone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Analyzing land dispute resolution networks In village mediation networks, which elders have highest betweenness for successful resolutions?</a:t>
            </a:r>
          </a:p>
          <a:p>
            <a:pPr marL="0" lv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Identifying opinion leaders in university student groups During campus protests, which 10 students have the highest betweenness centrality and can most influence negotiation outcomes?</a:t>
            </a:r>
          </a:p>
          <a:p>
            <a:pPr marL="0" lvl="0" indent="0" algn="just">
              <a:buNone/>
            </a:pP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marL="0" lvl="0" indent="0" algn="ctr"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(Use this When you want to Know Who is the Boss)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361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Agency FB" pitchFamily="34" charset="0"/>
              </a:rPr>
              <a:t>Risk Analysis &amp; Quantitative 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algn="just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Assessing flood risk before buying a flat What is the probability that my new flat in Mirpur-10 will suffer severe water entry during the next major monsoon in the coming 10 years, and how much repair cost should I budget?</a:t>
            </a:r>
          </a:p>
          <a:p>
            <a:pPr marL="0" indent="0">
              <a:buNone/>
            </a:pPr>
            <a:endParaRPr lang="en-US" dirty="0" smtClean="0"/>
          </a:p>
          <a:p>
            <a:pPr marL="0" lvl="0" indent="0" algn="just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Evaluating microcredit default risk for a borrower With seasonal income fluctuations and family health shocks, what is the probability I will default on my ৳50,000 BRAC loan within two years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?</a:t>
            </a:r>
          </a:p>
          <a:p>
            <a:pPr marL="0" lvl="0" indent="0" algn="just">
              <a:buNone/>
            </a:pP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 marL="0" lvl="0" indent="0" algn="ctr">
              <a:buNone/>
            </a:pP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(Use this When to Decide How much risk is in it)</a:t>
            </a:r>
            <a:endParaRPr lang="en-US" sz="2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874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Agency FB" pitchFamily="34" charset="0"/>
              </a:rPr>
              <a:t>Game Theory &amp; Strategic Interaction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 algn="just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Negotiating salary with a new employer If the company expects me to accept ৳35,000 but I want ৳45,000, what initial salary demand should I make knowing they will counter low?</a:t>
            </a:r>
          </a:p>
          <a:p>
            <a:pPr marL="0" lvl="0" indent="0">
              <a:buNone/>
            </a:pPr>
            <a:endParaRPr lang="en-US" sz="1100" dirty="0"/>
          </a:p>
          <a:p>
            <a:pPr marL="0" lvl="0" indent="0" algn="just"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Deciding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effort level in a group university project If other group members might free-ride, how much effort should I put in to avoid failing while not over-contributing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?</a:t>
            </a:r>
          </a:p>
          <a:p>
            <a:pPr marL="0" lvl="0" indent="0">
              <a:buNone/>
            </a:pP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marL="0" lvl="0" indent="0" algn="just"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Deciding whether to join a hartal/blockade If joining risks injury or arrest but not joining might weaken the movement, what is the equilibrium participation level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?</a:t>
            </a:r>
          </a:p>
          <a:p>
            <a:pPr marL="0" lvl="0" indent="0" algn="just">
              <a:buNone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0" lvl="0" indent="0" algn="ctr"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Decide What to do in a Multiparty game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191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812</Words>
  <Application>Microsoft Office PowerPoint</Application>
  <PresentationFormat>On-screen Show (4:3)</PresentationFormat>
  <Paragraphs>86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Decision Making 101</vt:lpstr>
      <vt:lpstr>Steps for Decision-Making </vt:lpstr>
      <vt:lpstr>Multi-Criteria Decision Analysis  (When to choose Multi condition Based Choice) </vt:lpstr>
      <vt:lpstr>Multi-Objective Optimization (When to choose Optimal Choice) </vt:lpstr>
      <vt:lpstr>Forecasting &amp; Time-Series Analysis</vt:lpstr>
      <vt:lpstr>Robust &amp; Stochastic Optimization</vt:lpstr>
      <vt:lpstr>Decision Making Under Deep Uncertainty </vt:lpstr>
      <vt:lpstr>Causal Inference &amp; Program Evaluation</vt:lpstr>
      <vt:lpstr>Systems Thinking &amp; System Dynamics Modeling</vt:lpstr>
      <vt:lpstr>Simulation &amp; Agent-Based Modeling</vt:lpstr>
      <vt:lpstr>Resource Allocation </vt:lpstr>
      <vt:lpstr>Network Science &amp; Graph Analytics</vt:lpstr>
      <vt:lpstr>Risk Analysis &amp; Quantitative Risk Assessment</vt:lpstr>
      <vt:lpstr>Game Theory &amp; Strategic Interaction Modeling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Decision Making</dc:title>
  <dc:creator>hp</dc:creator>
  <cp:lastModifiedBy>hp</cp:lastModifiedBy>
  <cp:revision>20</cp:revision>
  <dcterms:created xsi:type="dcterms:W3CDTF">2026-02-14T07:00:07Z</dcterms:created>
  <dcterms:modified xsi:type="dcterms:W3CDTF">2026-02-17T11:14:07Z</dcterms:modified>
</cp:coreProperties>
</file>